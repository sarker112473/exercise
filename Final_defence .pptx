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79" r:id="rId13"/>
    <p:sldId id="273" r:id="rId14"/>
    <p:sldId id="280" r:id="rId15"/>
    <p:sldId id="276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3D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64" autoAdjust="0"/>
  </p:normalViewPr>
  <p:slideViewPr>
    <p:cSldViewPr snapToGrid="0">
      <p:cViewPr varScale="1">
        <p:scale>
          <a:sx n="73" d="100"/>
          <a:sy n="73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164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806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170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701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387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9702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22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951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625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6767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2959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902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401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4883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7583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877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669CB-C7E9-4D63-82D2-7A4BAE0266F0}" type="datetimeFigureOut">
              <a:rPr lang="en-IN" smtClean="0"/>
              <a:t>28-11-2024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C1BA84E-8D0D-462B-BF3B-B7444B78201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9781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3" r:id="rId1"/>
    <p:sldLayoutId id="2147484304" r:id="rId2"/>
    <p:sldLayoutId id="2147484305" r:id="rId3"/>
    <p:sldLayoutId id="2147484306" r:id="rId4"/>
    <p:sldLayoutId id="2147484307" r:id="rId5"/>
    <p:sldLayoutId id="2147484308" r:id="rId6"/>
    <p:sldLayoutId id="2147484309" r:id="rId7"/>
    <p:sldLayoutId id="2147484310" r:id="rId8"/>
    <p:sldLayoutId id="2147484311" r:id="rId9"/>
    <p:sldLayoutId id="2147484312" r:id="rId10"/>
    <p:sldLayoutId id="2147484313" r:id="rId11"/>
    <p:sldLayoutId id="2147484314" r:id="rId12"/>
    <p:sldLayoutId id="2147484315" r:id="rId13"/>
    <p:sldLayoutId id="2147484316" r:id="rId14"/>
    <p:sldLayoutId id="2147484317" r:id="rId15"/>
    <p:sldLayoutId id="214748431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6726" y="2369127"/>
            <a:ext cx="90193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dirty="0" smtClean="0">
                <a:latin typeface="Copperplate Gothic Bold" panose="020E0705020206020404" pitchFamily="34" charset="0"/>
              </a:rPr>
              <a:t>Physical Rehabilitation Score Prediction Using Deep Learning: A Focus on LSTM, 3DCNN And Conv3D Performance.</a:t>
            </a:r>
            <a:endParaRPr lang="en-IN" sz="2400" b="1" dirty="0">
              <a:latin typeface="Copperplate Gothic Bold" panose="020E07050202060204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828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414" y="387530"/>
            <a:ext cx="2286000" cy="1772516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1669472" y="2305915"/>
            <a:ext cx="4135582" cy="301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Farhana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Akter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Bristy</a:t>
            </a: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ID : CSE 070 08110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Subrite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Sarker</a:t>
            </a:r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ID : CSE 070 08112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Stamford University Bangladesh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927273" y="2305915"/>
            <a:ext cx="4225637" cy="377762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Md.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Tauhid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Bin Iqbal, 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Assistant Professor 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Dept. of CSE,</a:t>
            </a:r>
          </a:p>
          <a:p>
            <a:pPr marL="0" indent="0" algn="just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Stamford University Bangladesh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75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741816" cy="6858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52605" y="250453"/>
            <a:ext cx="4924697" cy="63782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ound Diagonal Corner Rectangle 18"/>
          <p:cNvSpPr/>
          <p:nvPr/>
        </p:nvSpPr>
        <p:spPr>
          <a:xfrm>
            <a:off x="5551715" y="1175658"/>
            <a:ext cx="5943599" cy="5590902"/>
          </a:xfrm>
          <a:prstGeom prst="round2Diag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tx1">
                <a:lumMod val="85000"/>
              </a:schemeClr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6688183" y="1384663"/>
            <a:ext cx="3853543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 ASSESSMENT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EXERCISES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ANALAYSIS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6564085" y="338531"/>
            <a:ext cx="4650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701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3817" y="0"/>
            <a:ext cx="2878183" cy="68579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163290" y="249382"/>
            <a:ext cx="3740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02674" y="1199464"/>
            <a:ext cx="818457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rehabilitation is a critical process for improving patient recovery after injuries or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surgeries.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assessment methods often rely on subjective evaluation by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clinicians.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of physical rehabilitation entails evaluation of patient performance in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completing exercises.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p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lays an essential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towards improving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outcomes. 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Patient can acknowledge that he/she is doing right or wrong.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applied three models 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compare deep learning models for predicting physical rehabilitation assessment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scores. 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model performance in terms of prediction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243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41964" y="249382"/>
            <a:ext cx="5541818" cy="85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301438" y="448040"/>
            <a:ext cx="8614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OF EXERCISE ASSESSMENT SCORING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1780618"/>
            <a:ext cx="1018902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</a:t>
            </a: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deep learning models for predicting physical rehabilitation assessment scores based 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rehabilitation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exercises, with the aim of identifying the most effective model that minimizes prediction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error. 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dataset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MobiPhysio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deep learning models for experiment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(LSTM)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(3D-CNN)</a:t>
            </a:r>
          </a:p>
          <a:p>
            <a:pPr marL="1257300" lvl="2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3D-CNN+LSTM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(CONV3D)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04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27416" y="522515"/>
            <a:ext cx="38796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COMPONENTS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35533" y="1410790"/>
            <a:ext cx="616566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9 types of exercise in our dataset 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type or each class contains 80 videos.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1,920p average number of width per video.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1,080p average numbers of height per video.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 average frames per second for every video.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9 csv file for 9 classes, each csv file contains exercise names and assessment scores for each video.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85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828" y="698538"/>
            <a:ext cx="3008088" cy="217528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684" y="698538"/>
            <a:ext cx="3186294" cy="217528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746" y="698538"/>
            <a:ext cx="3124392" cy="21752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773" y="3826687"/>
            <a:ext cx="3381847" cy="21669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553" y="3826687"/>
            <a:ext cx="3305636" cy="21669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36423" y="0"/>
            <a:ext cx="3513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EXERCISES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71828" y="2919367"/>
            <a:ext cx="3213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Figure-1:E01(Abduction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6593" y="2938556"/>
            <a:ext cx="3016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Figure-2:E02(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Aduction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4371" y="2950145"/>
            <a:ext cx="3884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Figure-3:E03(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Lateral_Rotation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3098" y="6051744"/>
            <a:ext cx="36591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Figure-4:E04(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Medial_Rotation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9100" y="6051744"/>
            <a:ext cx="3801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Figure-5:E05(Circumduction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3416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674663"/>
            <a:ext cx="3422702" cy="2468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8699" y="674663"/>
            <a:ext cx="3372321" cy="246888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802" y="3701534"/>
            <a:ext cx="3400900" cy="234656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277" y="3755147"/>
            <a:ext cx="3315163" cy="22929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0" y="3183459"/>
            <a:ext cx="36053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Figure-6:E06(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Wrist_Extension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3595" y="3249290"/>
            <a:ext cx="4049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Figure-7:E07(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Hip_Joint_Flexion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98766" y="6048103"/>
            <a:ext cx="4149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Figure-8:E08(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Both_Leg_Flexion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0803" y="6068540"/>
            <a:ext cx="38750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Figure-9:E09(Back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_Extension)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7674" y="-31625"/>
            <a:ext cx="35139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EXERCISES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860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4383" y="195943"/>
            <a:ext cx="4153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16181" y="1232375"/>
            <a:ext cx="8830493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first we load the dataset and read the video files from the dataset.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computational reduction , we resized the frames to a fixed dimension  of 128*128.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 the sequence length to 30.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 the Pixel values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range [0, 1] by dividing by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which makes convergence faster while training the network.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frames_extraction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 function , we extracted frames from the videos.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processed frame will be appended to the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frames_list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split the dataset into 0.2 ratio, which means 80% for training and 20% for test.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 smtClean="0"/>
          </a:p>
          <a:p>
            <a:pPr algn="just"/>
            <a:endParaRPr lang="en-IN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44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63931" y="1149532"/>
            <a:ext cx="914399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model training, we used epoch=60, batch size= 8 and optimizer =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learning Rate Scheduler(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lr_scheduler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adjusting the learning rate during the training process,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cheduling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the learning rate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during training, starting higher for faster progress and decreasing as the model approaches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adjustment of learning rate is critical to achieving optimal training performance.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early_stopping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preventing overfitting problem.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merged the video dataset with the csv file for data pre-processing.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09252" y="404949"/>
            <a:ext cx="4153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PRE-PROCESSING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34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23513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49086" y="1201783"/>
            <a:ext cx="98755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LSTM: Long-Short Term Memory: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2229" y="1697611"/>
            <a:ext cx="960119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 is a recurrent neural network (RNN)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reason for the success of this recurrent network lies in its ability to handle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vanishing gradient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vanishing gradient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ccurs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gradients of the loss function with respect to the model parameters (weights) become very small during backpropagation, making it difficult for the network to update the weights effectively.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excels at capturing long-term dependencies, making it ideal for sequence prediction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task.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gating units which regulate the information flow into and out of the memory</a:t>
            </a:r>
            <a:r>
              <a:rPr lang="en-IN" dirty="0"/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20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23513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02229" y="1299473"/>
            <a:ext cx="52758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LSTM: Long-Short Term </a:t>
            </a:r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Memory: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23359" y="5446835"/>
            <a:ext cx="512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Figure-9: Inner architecture of a LSTM block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851" y="2158216"/>
            <a:ext cx="7680960" cy="308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5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31225" y="2000426"/>
            <a:ext cx="2704011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881048" y="3435532"/>
            <a:ext cx="2704011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/>
          <p:cNvSpPr/>
          <p:nvPr/>
        </p:nvSpPr>
        <p:spPr>
          <a:xfrm>
            <a:off x="5070564" y="3411214"/>
            <a:ext cx="2638696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8490849" y="3447704"/>
            <a:ext cx="2704011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8577944" y="5146766"/>
            <a:ext cx="2704011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229496" y="5146766"/>
            <a:ext cx="2704011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/>
          <p:cNvSpPr/>
          <p:nvPr/>
        </p:nvSpPr>
        <p:spPr>
          <a:xfrm>
            <a:off x="1881048" y="5146766"/>
            <a:ext cx="2704011" cy="600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4310742" y="23513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6622" y="1141225"/>
            <a:ext cx="3243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LSTM: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25089" y="2112187"/>
            <a:ext cx="12148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66553" y="3551312"/>
            <a:ext cx="1733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Memory cells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17466" y="3551312"/>
            <a:ext cx="17896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9006" y="5248592"/>
            <a:ext cx="1648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Forget gate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26035" y="5248592"/>
            <a:ext cx="161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gate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39646" y="5247157"/>
            <a:ext cx="17547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gate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Connector 23"/>
          <p:cNvCxnSpPr>
            <a:stCxn id="2" idx="4"/>
          </p:cNvCxnSpPr>
          <p:nvPr/>
        </p:nvCxnSpPr>
        <p:spPr>
          <a:xfrm flipH="1">
            <a:off x="6283230" y="2601318"/>
            <a:ext cx="1" cy="370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3233052" y="2971236"/>
            <a:ext cx="3050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7" idx="0"/>
          </p:cNvCxnSpPr>
          <p:nvPr/>
        </p:nvCxnSpPr>
        <p:spPr>
          <a:xfrm>
            <a:off x="3233052" y="2971823"/>
            <a:ext cx="2" cy="463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283229" y="2970650"/>
            <a:ext cx="0" cy="47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9" idx="0"/>
          </p:cNvCxnSpPr>
          <p:nvPr/>
        </p:nvCxnSpPr>
        <p:spPr>
          <a:xfrm>
            <a:off x="9842854" y="2982822"/>
            <a:ext cx="1" cy="464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6400796" y="4036424"/>
            <a:ext cx="0" cy="11103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46322" y="3501578"/>
            <a:ext cx="1313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Gates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/>
          <p:cNvCxnSpPr>
            <a:stCxn id="8" idx="4"/>
          </p:cNvCxnSpPr>
          <p:nvPr/>
        </p:nvCxnSpPr>
        <p:spPr>
          <a:xfrm flipH="1">
            <a:off x="3457303" y="4012106"/>
            <a:ext cx="2932609" cy="10824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8" idx="4"/>
          </p:cNvCxnSpPr>
          <p:nvPr/>
        </p:nvCxnSpPr>
        <p:spPr>
          <a:xfrm>
            <a:off x="6389912" y="4012106"/>
            <a:ext cx="3627123" cy="1082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6283229" y="2970650"/>
            <a:ext cx="3559625" cy="12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37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8930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67097" y="788423"/>
            <a:ext cx="1033272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gate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Regulates the extent to which new information flows into the cell state.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Forget gate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Determines how much of the current cell state should be carried forward. It allows the network to reset parts of the cell state when they are no longer relevant.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gate</a:t>
            </a:r>
            <a:r>
              <a:rPr lang="en-IN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Controls how much of the cell state should be used to compute the output of the LSTM unit at the current time step.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 state or memory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Cell carries information across different time steps, enabling the network to remember previous information for long durations.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Hidden state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The hidden state is the output of the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unit for a particular time step and also serves as an input to the next time step. It combines short-term and long-term memory from the cell state and is controlled by the output gate.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 memory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Determine how much new information should be considered and integrated into the LSTM's cell state during each time step.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/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8171" y="788423"/>
            <a:ext cx="3243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LSTM: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25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5632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28352" y="1199457"/>
            <a:ext cx="58260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3D Convolutional Neural Network (</a:t>
            </a:r>
            <a:r>
              <a:rPr lang="en-IN" sz="2000" b="1" u="sng" dirty="0" smtClean="0"/>
              <a:t>3D-CNN</a:t>
            </a:r>
            <a:r>
              <a:rPr lang="en-IN" sz="2000" b="1" u="sng" dirty="0"/>
              <a:t>)</a:t>
            </a:r>
            <a:r>
              <a:rPr lang="en-IN" sz="2000" u="sng" dirty="0"/>
              <a:t> :</a:t>
            </a:r>
            <a:endParaRPr lang="en-IN" sz="2000" u="sng" dirty="0" smtClean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29" y="2153564"/>
            <a:ext cx="7798525" cy="2940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98371" y="5250892"/>
            <a:ext cx="51206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Figure-10: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rchitecture of a 3D-CNN model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35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5632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32855" y="794509"/>
            <a:ext cx="58260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3D Convolutional Neural Network (</a:t>
            </a:r>
            <a:r>
              <a:rPr lang="en-IN" sz="2000" b="1" u="sng" dirty="0" smtClean="0"/>
              <a:t>3D-CNN</a:t>
            </a:r>
            <a:r>
              <a:rPr lang="en-IN" sz="2000" b="1" u="sng" dirty="0"/>
              <a:t>)</a:t>
            </a:r>
            <a:r>
              <a:rPr lang="en-IN" sz="2000" u="sng" dirty="0"/>
              <a:t> :</a:t>
            </a:r>
            <a:endParaRPr lang="en-IN" sz="2000" u="sng" dirty="0" smtClean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162594" y="1271563"/>
            <a:ext cx="10162903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extends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convolution operations into three dimensions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can processes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without manual feature extraction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 use 3D filters (kernels) to extract features from input data. These kernels slide along the height, width, and depth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3D CNNs capable of learning both spatial and temporal features simultaneously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2D CNNs, they build hierarchical representations of the data. Lower layers capture basic features like edges, while higher layers identify complex patterns like movement or object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layers reduce the dimensions of the feature maps while retaining important information. This reduces computational cost and prevents overfitting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Flatten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Layer, 3D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Converts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1D feature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 smtClean="0"/>
          </a:p>
          <a:p>
            <a:endParaRPr lang="en-IN" b="1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96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56321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37360" y="1384608"/>
            <a:ext cx="47156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just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 hybrid model (CONV3D</a:t>
            </a: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1423851" y="1578445"/>
            <a:ext cx="9379132" cy="5018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326" y="2098798"/>
            <a:ext cx="7027818" cy="29722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98371" y="5250892"/>
            <a:ext cx="5283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rchitecture of a CONV3D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[2]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6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0742" y="0"/>
            <a:ext cx="493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 ARCHITECTURE 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11233" y="610136"/>
            <a:ext cx="47156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just"/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CNN-LSTM hybrid model (CONV3D</a:t>
            </a:r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718456" y="1268202"/>
            <a:ext cx="11416937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t’s a hybrid model. In Conv3d , we combine 3D-CNN model with LSTM 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3D-CNNs are utilized to extract local spatiotemporal features from small cubic clips in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the extracted features are then fed into the LSTM networks to predict the perceived video quality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Despite having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training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data, it can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capture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Conv3d model, 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an LSTM layer and another FC layer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shape of the LSTM layer is determined by the number of video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clips or frames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from a video sequence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reasons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Conv3d(3D-CNN + LSTM) perform better: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escriptive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capability of the 3D-CNN model for video quality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perception and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better represents the characteristics of the quality features in time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213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286" y="130628"/>
            <a:ext cx="499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ANALAYSIS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6284044"/>
              </p:ext>
            </p:extLst>
          </p:nvPr>
        </p:nvGraphicFramePr>
        <p:xfrm>
          <a:off x="1283788" y="2134452"/>
          <a:ext cx="4616996" cy="3977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42274">
                  <a:extLst>
                    <a:ext uri="{9D8B030D-6E8A-4147-A177-3AD203B41FA5}">
                      <a16:colId xmlns:a16="http://schemas.microsoft.com/office/drawing/2014/main" val="1202212874"/>
                    </a:ext>
                  </a:extLst>
                </a:gridCol>
                <a:gridCol w="1166224">
                  <a:extLst>
                    <a:ext uri="{9D8B030D-6E8A-4147-A177-3AD203B41FA5}">
                      <a16:colId xmlns:a16="http://schemas.microsoft.com/office/drawing/2014/main" val="3928857801"/>
                    </a:ext>
                  </a:extLst>
                </a:gridCol>
                <a:gridCol w="1106713">
                  <a:extLst>
                    <a:ext uri="{9D8B030D-6E8A-4147-A177-3AD203B41FA5}">
                      <a16:colId xmlns:a16="http://schemas.microsoft.com/office/drawing/2014/main" val="3413274410"/>
                    </a:ext>
                  </a:extLst>
                </a:gridCol>
                <a:gridCol w="1201785">
                  <a:extLst>
                    <a:ext uri="{9D8B030D-6E8A-4147-A177-3AD203B41FA5}">
                      <a16:colId xmlns:a16="http://schemas.microsoft.com/office/drawing/2014/main" val="159896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 smtClean="0"/>
                        <a:t>Exercise</a:t>
                      </a:r>
                      <a:r>
                        <a:rPr lang="en-IN" sz="1800" baseline="0" dirty="0" smtClean="0"/>
                        <a:t> Name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LSTM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3D-CNN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CONV3D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22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 smtClean="0"/>
                        <a:t>E01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0.32770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0.42400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0.02048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116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0.29921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0.39245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0.03211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05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0.22098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0.45555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0.01246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02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0.25980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0.45555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0.00350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8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0.12088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0.41792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0.00925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0.33936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0.39131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0.01085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0.21751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0.24458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0.01565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653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0.35764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0.38612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0.00896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7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0.27896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0.46823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0.00670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2426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702502"/>
              </p:ext>
            </p:extLst>
          </p:nvPr>
        </p:nvGraphicFramePr>
        <p:xfrm>
          <a:off x="6734626" y="2139658"/>
          <a:ext cx="4616996" cy="3977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3085">
                  <a:extLst>
                    <a:ext uri="{9D8B030D-6E8A-4147-A177-3AD203B41FA5}">
                      <a16:colId xmlns:a16="http://schemas.microsoft.com/office/drawing/2014/main" val="1202212874"/>
                    </a:ext>
                  </a:extLst>
                </a:gridCol>
                <a:gridCol w="1205413">
                  <a:extLst>
                    <a:ext uri="{9D8B030D-6E8A-4147-A177-3AD203B41FA5}">
                      <a16:colId xmlns:a16="http://schemas.microsoft.com/office/drawing/2014/main" val="3928857801"/>
                    </a:ext>
                  </a:extLst>
                </a:gridCol>
                <a:gridCol w="1106713">
                  <a:extLst>
                    <a:ext uri="{9D8B030D-6E8A-4147-A177-3AD203B41FA5}">
                      <a16:colId xmlns:a16="http://schemas.microsoft.com/office/drawing/2014/main" val="3413274410"/>
                    </a:ext>
                  </a:extLst>
                </a:gridCol>
                <a:gridCol w="1201785">
                  <a:extLst>
                    <a:ext uri="{9D8B030D-6E8A-4147-A177-3AD203B41FA5}">
                      <a16:colId xmlns:a16="http://schemas.microsoft.com/office/drawing/2014/main" val="159896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Exercise </a:t>
                      </a:r>
                      <a:r>
                        <a:rPr lang="en-IN" baseline="0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LSTM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3D-CNN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CONV3D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22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0.04319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0.01681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0.00351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116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0.04715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0.00590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0.00359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05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0.10697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0.00754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0.00347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02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0.11102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0.00754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0.00058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8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0.06001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0.00529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0.00163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0.02888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0.00408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0.00120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0.08408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0.00776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0.00246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653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0.01566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0.00834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0.00099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7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0.04252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0.00598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0.00060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2426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73181" y="1280160"/>
            <a:ext cx="103784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We used RMSE , MAD and MAE for the performance matrix. We evaluate each model by using this matrix.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49977" y="6110767"/>
            <a:ext cx="4448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Figure-12: RMSE of LSTM, 3D-CNN, CONV3D model.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36377" y="6112092"/>
            <a:ext cx="44152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Figure-13:MAD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LSTM, 3D-CNN, CONV3D model.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03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804525"/>
              </p:ext>
            </p:extLst>
          </p:nvPr>
        </p:nvGraphicFramePr>
        <p:xfrm>
          <a:off x="3592286" y="1355887"/>
          <a:ext cx="4616996" cy="39776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03085">
                  <a:extLst>
                    <a:ext uri="{9D8B030D-6E8A-4147-A177-3AD203B41FA5}">
                      <a16:colId xmlns:a16="http://schemas.microsoft.com/office/drawing/2014/main" val="1202212874"/>
                    </a:ext>
                  </a:extLst>
                </a:gridCol>
                <a:gridCol w="1205413">
                  <a:extLst>
                    <a:ext uri="{9D8B030D-6E8A-4147-A177-3AD203B41FA5}">
                      <a16:colId xmlns:a16="http://schemas.microsoft.com/office/drawing/2014/main" val="3928857801"/>
                    </a:ext>
                  </a:extLst>
                </a:gridCol>
                <a:gridCol w="1106713">
                  <a:extLst>
                    <a:ext uri="{9D8B030D-6E8A-4147-A177-3AD203B41FA5}">
                      <a16:colId xmlns:a16="http://schemas.microsoft.com/office/drawing/2014/main" val="3413274410"/>
                    </a:ext>
                  </a:extLst>
                </a:gridCol>
                <a:gridCol w="1201785">
                  <a:extLst>
                    <a:ext uri="{9D8B030D-6E8A-4147-A177-3AD203B41FA5}">
                      <a16:colId xmlns:a16="http://schemas.microsoft.com/office/drawing/2014/main" val="159896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Exercise </a:t>
                      </a:r>
                      <a:r>
                        <a:rPr lang="en-IN" baseline="0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LSTM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3D-CNN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CONV3D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226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0.32340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0.42337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0.01994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116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0.29353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0.39037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0.03158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05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0.17679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0.45546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0.01146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002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0.22020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0.45546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0.00342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8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0.08521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0.41785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0.00900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33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0.33777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0.39128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0.01075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73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0.18572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0.24458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0.01540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653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0.35693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0.38589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0.00887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70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E09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0.27261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0.46816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0.00665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92426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592286" y="130628"/>
            <a:ext cx="499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ANALAYSIS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760924" y="5389235"/>
            <a:ext cx="4448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Figure-14: MAE of LSTM, 3D-CNN, CONV3D model.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8910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92286" y="130628"/>
            <a:ext cx="499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ANALAYSIS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794" y="893180"/>
            <a:ext cx="6648994" cy="37914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27417" y="4820194"/>
            <a:ext cx="52382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Figure-15: Comparison of MAD between three models using bar chart.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801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92731" y="457199"/>
            <a:ext cx="49900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ANALAYSIS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4560" y="1645919"/>
            <a:ext cx="83863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 from the bar chart , and from accuracy loss performance(RMSE, MAD, MAE ) we can see that Conv3d performed better in 9 exercises, than the other two model.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Conv3d have less RMSE, MAD and MAE that’s means it can captured movements and positions more correctly.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have tested Conv3d model with new video and it  gave an assessment score as output .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07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63439" y="574765"/>
            <a:ext cx="3239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11680" y="1737360"/>
            <a:ext cx="8804366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the model in that way that it can return informative feedback along with assessment score.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pose estimation algorithms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OpenPose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extract key joint angles during exercises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joint angles to detect incorrect movements and highlight specific body parts where errors occur.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07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49931" y="300446"/>
            <a:ext cx="48593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67542" y="1062557"/>
            <a:ext cx="962732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G. Van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Houdt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Mosquera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G.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N´apoles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Review on the Long Short-Term Memory Model,” Artificial Intelligence Review ,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2020.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Junyong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You and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Jari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Korhonen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3D-CNN+LSTM : Deep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for No-Reference Video Quality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Assessment”,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2019 IEEE International Conference on Image Processing (ICIP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Roberta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Vrskova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Robert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Hudec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Patrik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Kamencay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Sykora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“Human Activity Classification Using the 3DCNN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Appl. Sci.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2022,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 931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Published: 17 January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2022.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Noor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Almaadeeda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Omar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Elharroussa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Somaya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Al-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Maadeeda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Ahmed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Bouridaneb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Azeddine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Beghdadic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“A Novel Approach for Robust Multi Human Action Detection and Recognition based on 3-Dimentional Convolutional Neural Networks”, July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2019.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929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96788" y="2299062"/>
            <a:ext cx="6466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 smtClean="0"/>
              <a:t>THANK YOU!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425347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2909</TotalTime>
  <Words>1342</Words>
  <Application>Microsoft Office PowerPoint</Application>
  <PresentationFormat>Widescreen</PresentationFormat>
  <Paragraphs>345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Century Gothic</vt:lpstr>
      <vt:lpstr>Copperplate Gothic Bold</vt:lpstr>
      <vt:lpstr>Times New Roman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Samsung</dc:creator>
  <cp:lastModifiedBy>Samsung</cp:lastModifiedBy>
  <cp:revision>94</cp:revision>
  <dcterms:created xsi:type="dcterms:W3CDTF">2024-11-24T05:57:38Z</dcterms:created>
  <dcterms:modified xsi:type="dcterms:W3CDTF">2024-11-28T10:45:26Z</dcterms:modified>
</cp:coreProperties>
</file>